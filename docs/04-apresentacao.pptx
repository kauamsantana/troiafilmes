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Somos o grupo do TroiaFilmes. Construímos uma API REST de um serviço de streaming de filmes, com frontend próprio consumindo essa API. Nos próximos 12 minutos vamos mostrar o domínio, a arquitetura em camadas, a segurança com JWT e a API funcionando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(1 min). O domínio foi escolhido porque produz naturalmente os dois tipos de relacionamento exigidos e regras que vão além do CRUD. O ponto alto é a separação conta x perfil: uma assinatura, várias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(30 s). 115 verificações = 54 testes automatizados que rodam sem banco (Mockito e WebMvcTest) mais 61 verificações de integração contra a API no ar. Toda a stack pedida no enunciado está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(1 min). Nove tabelas de domínio. Em azul as entidades, em verde as associativas. Todos os nove relacionamentos 1:N estão aqui, mais os dois N:N. O schema inteiro é criado pelo Flyway, então qualquer pessoa reproduz o banco do zero com um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N:N (1 min). Esse é o slide para defender a modelagem. Muita gente resolve todo N:N com @ManyToMany. Nós mostramos os dois casos no mesmo sistema: enquanto a associação for só uma ligação, junção pura resolve; quando ela ganha atributo, precisa virar entidade.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(1 min). Controller recebe HTTP e valida; não tem regra de negócio. Service tem a regra e a transação; não conhece HTTP. Repository só persiste. Entity é o domínio e nunca sai na API. Segurança, DTO/Validation e o ExceptionHandler são transversais.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(1,5 min). Este é o slide do critério de 1,5 ponto. Dois níveis: papel define rota, posse define registro. E o detalhe que diferencia: a posse vale inclusive para o ADMIN, porque histórico e avaliação são dados pessoais.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(30 s). É o ponto onde a maioria dos projetos erra. A pergunta que o professor pode fazer é "e se eu mandar um arquivo malicioso?". Três respostas: o nome nunca toca o disco, o formato é lido dos bytes iniciais e não do que o cliente declarou, e o tamanho é barrado em duas camadas. Tem teste automatizado para cada uma dessas três coisas. Se sobrar tempo, mostre ao vivo: renomeie um .txt para .jpg e tente enviar.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(1 min). A pergunta que o professor pode fazer: por que não usar JWT no refresh também? Resposta: porque JWT não é revogável. Persistindo, o logout encerra a sessão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(30 s). São 18 no total; estas seis são as mais representativas. Repare que cada uma tem um código HTTP definido — 409 para conflito de regra, 403 para posse. Isso sai do GlobalExceptionHandler, sempre no mesmo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Qualidade (30 s). Vale contar o bug do saveAndFlush: mostra que a verificação não é decorativa, pegou um problema de ordem de flush do Hibernate que passaria despercebido em teste com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(3 a 4 min). Este é o coração da apresentação. Seguir o roteiro na ordem. Ter o Swagger já aberto em outra aba e o Postman como plano B se a internet cair.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Equipe (30 s). Cada pessoa apresenta a própria parte em uma frase. Todos contribuíram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(30 s). Fechar com os quatro pontos e abrir para perguntas. Perguntas prováveis: por que não MapStruct, por que refresh token em banco, como evitaram N+1 na listagem.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74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15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Troia</a:t>
            </a:r>
            <a:pPr indent="0" marL="0">
              <a:buNone/>
            </a:pPr>
            <a:r>
              <a:rPr lang="en-US" sz="7600" b="1" spc="-15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Filmes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API REST de streaming, do modelo de domínio à interface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4041648"/>
            <a:ext cx="7863840" cy="1371600"/>
          </a:xfrm>
          <a:prstGeom prst="roundRect">
            <a:avLst>
              <a:gd name="adj" fmla="val 666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42611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Estefani Ricardo de Souza   ·   Gabrielle Coral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4572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Ingridy Morona Rosa   ·   Kauam Sant’ana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49743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Backend com Spring   ·   Prof. Matheus Leandro Ferreira   ·   UNESC</a:t>
            </a:r>
            <a:endParaRPr lang="en-US" sz="1100" dirty="0"/>
          </a:p>
        </p:txBody>
      </p:sp>
      <p:pic>
        <p:nvPicPr>
          <p:cNvPr id="8" name="Image 0" descr="C:\Users\KauamPeregrina\OneDrive - transperegrina.com.br\Documentos\UnescFlix\docs\03-prototipo\04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572768"/>
            <a:ext cx="3291840" cy="2057400"/>
          </a:xfrm>
          <a:prstGeom prst="rect">
            <a:avLst/>
          </a:prstGeom>
        </p:spPr>
      </p:pic>
      <p:pic>
        <p:nvPicPr>
          <p:cNvPr id="9" name="Image 1" descr="C:\Users\KauamPeregrina\OneDrive - transperegrina.com.br\Documentos\UnescFlix\docs\03-prototipo\03-selecao-de-perf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840480"/>
            <a:ext cx="329184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catálogo de filmes no modelo dos serviços de streaming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9339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2011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61518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assina, escolhe um plano e paga. É o titular.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55648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199339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2011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61518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de fato assiste, avalia e tem histórico. Vários por conta.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1755648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199339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2011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61518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Filmes e categorias, curados pela administração.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895344"/>
            <a:ext cx="11055096" cy="2029968"/>
          </a:xfrm>
          <a:prstGeom prst="roundRect">
            <a:avLst>
              <a:gd name="adj" fmla="val 4505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413308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esse recorte importa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4572000"/>
            <a:ext cx="10287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separação entre conta e perfil não é enfeite: é dela que nascem as regras mais interessantes do trabalho. O plano contratado limita quantos perfis a conta pode ter, e perfil, histórico e avaliações são dados pessoais — privados inclusive para o administrador, que manda no catálogo mas não na conta de ninguém.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construído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do projeto entregue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01168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de domínio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1568" y="182880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201168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201168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0848" y="1828800"/>
            <a:ext cx="2615184" cy="1737360"/>
          </a:xfrm>
          <a:prstGeom prst="roundRect">
            <a:avLst>
              <a:gd name="adj" fmla="val 5263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0848" y="201168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9253728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verificações automatizadas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11055096" cy="2212848"/>
          </a:xfrm>
          <a:prstGeom prst="roundRect">
            <a:avLst>
              <a:gd name="adj" fmla="val 4132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411480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3.5 · Spring Data JPA · Spring Security · JWT · Lombok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5902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350008" y="45902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17 com schema versionado por Flyway (V1 a V5)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50657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350008" y="50657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Vite, consumindo exclusivamente a API pública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55412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350008" y="554126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para o banco · Maven Wrapper para o build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domínio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tabelas de domínio · relacionamentos 1:N e N:N · schema versionado com Flyway</a:t>
            </a:r>
            <a:endParaRPr lang="en-US" sz="1500" dirty="0"/>
          </a:p>
        </p:txBody>
      </p:sp>
      <p:pic>
        <p:nvPicPr>
          <p:cNvPr id="4" name="Image 0" descr="C:\Users\KauamPeregrina\OneDrive - transperegrina.com.br\Documentos\UnescFlix\docs\02-der\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17904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N:N, duas soluções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entre tabela de junção e entidade associativa não é estilo — é consequência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73936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 ↔ Categoria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323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 junção pura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889504"/>
            <a:ext cx="4700016" cy="859536"/>
          </a:xfrm>
          <a:prstGeom prst="roundRect">
            <a:avLst>
              <a:gd name="adj" fmla="val 10638"/>
            </a:avLst>
          </a:prstGeom>
          <a:solidFill>
            <a:srgbClr val="22222C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30175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@ManyToMany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@JoinTable(name = "filme_categoria")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13632"/>
            <a:ext cx="47000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vínculo só diz que o filme pertence à categoria. Não carrega informação própria, então uma tabela de junção basta.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773936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↔ Filme  (Minha Lista)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323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 associativa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2889504"/>
            <a:ext cx="4700016" cy="859536"/>
          </a:xfrm>
          <a:prstGeom prst="roundRect">
            <a:avLst>
              <a:gd name="adj" fmla="val 10638"/>
            </a:avLst>
          </a:prstGeom>
          <a:solidFill>
            <a:srgbClr val="22222C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48272" y="30175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ItemLista { ... adicionadoEm }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913632"/>
            <a:ext cx="47000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vínculo precisa guardar QUANDO o filme entrou na lista. A partir do momento em que a associação ganha atributo, ela vira entidade.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ponto de modelagem que a equipe mais gostaria de defender na arguição.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em camadas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com uma responsabilidade, e o que ela deliberadamente não faz</a:t>
            </a:r>
            <a:endParaRPr lang="en-US" sz="1500" dirty="0"/>
          </a:p>
        </p:txBody>
      </p:sp>
      <p:pic>
        <p:nvPicPr>
          <p:cNvPr id="4" name="Image 0" descr="C:\Users\KauamPeregrina\OneDrive - transperegrina.com.br\Documentos\UnescFlix\docs\02-der\arquitetura-cama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63040"/>
            <a:ext cx="9326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em duas camadas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Autenticar é saber quem é. Autorizar é decidir o que essa pessoa alcança — e isso tem dois níveis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5394960" cy="2395728"/>
          </a:xfrm>
          <a:prstGeom prst="roundRect">
            <a:avLst>
              <a:gd name="adj" fmla="val 381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225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rotas você alcança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  +  @PreAuthorize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45536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administra catálogo, planos e contas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consulta o catálogo e gerencia o que é dele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6208" y="1810512"/>
            <a:ext cx="5394960" cy="2395728"/>
          </a:xfrm>
          <a:prstGeom prst="roundRect">
            <a:avLst>
              <a:gd name="adj" fmla="val 381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225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registros você toca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743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PerfilService.buscarComPosse()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145536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Perfil, histórico e avaliações são dados pessoais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inclusive para o ADMIN — e o teste prova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425696"/>
            <a:ext cx="11055096" cy="1591056"/>
          </a:xfrm>
          <a:prstGeom prst="roundRect">
            <a:avLst>
              <a:gd name="adj" fmla="val 574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" y="46451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administrador manda no catálogo, não na conta de ninguém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5047488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ADMIN consegue excluir um filme do catálogo, mas recebe 403 ao tentar ler o histórico de outro assinante. É uma decisão de projeto, não um efeito colateral — e há teste automatizado garantindo que continue assim.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Upload: não acredite no que o cliente diz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Receber arquivo é a porta mais exposta de uma aplicação web. Tudo que vem do cliente é palpite, não prova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73936"/>
            <a:ext cx="3520440" cy="2761488"/>
          </a:xfrm>
          <a:prstGeom prst="roundRect">
            <a:avLst>
              <a:gd name="adj" fmla="val 33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975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249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chega ao disco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+ extensão detectada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980944"/>
            <a:ext cx="2962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enviado é descartado. Um "../../application.yml" não tem como escapar da pasta, porque nunca é usado.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73936"/>
            <a:ext cx="3520440" cy="2761488"/>
          </a:xfrm>
          <a:prstGeom prst="roundRect">
            <a:avLst>
              <a:gd name="adj" fmla="val 33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975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249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dos bytes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D8 FF   89 50 4E 47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80944"/>
            <a:ext cx="2962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Content-Type e extensão são escolhidos por quem envia. Lemos a assinatura do arquivo: texto renomeado para .jpg leva 400.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773936"/>
            <a:ext cx="3520440" cy="2761488"/>
          </a:xfrm>
          <a:prstGeom prst="roundRect">
            <a:avLst>
              <a:gd name="adj" fmla="val 33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975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2494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Conferido duas vezes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multipart  +  service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980944"/>
            <a:ext cx="2962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container corta em 2 MB e o service confere de novo — para o caso de alguém afrouxar o limite sem lembrar deste ponto.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700016"/>
            <a:ext cx="11055096" cy="1316736"/>
          </a:xfrm>
          <a:prstGeom prst="roundRect">
            <a:avLst>
              <a:gd name="adj" fmla="val 6944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488289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as imagens são públicas de propósito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5248656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tag &lt;img&gt; do navegador não envia o cabeçalho Authorization — um pôster protegido por JWT simplesmente não carregaria. São imagens de catálogo, sem nada pessoal. Enviar continua restrito a ADMIN.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dois tokens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JWT assinado vale até expirar. Não existe como cancelá-lo antes disso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66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HS256 (java-jwt) · autocontido · 1 hora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71216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 e-mail, usuarioId e role. A cada requisição o filtro confere a assinatura e a conta: desativada, perde o acesso na hora.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6208" y="18288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66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871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opaco · persistido em banco · 7 dias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71216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JWT de propósito: persistindo o token, o logout consegue revogá-lo de verdade. E ele é rotacionado a cada uso.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352544"/>
            <a:ext cx="11055096" cy="1645920"/>
          </a:xfrm>
          <a:prstGeom prst="roundRect">
            <a:avLst>
              <a:gd name="adj" fmla="val 5556"/>
            </a:avLst>
          </a:prstGeom>
          <a:solidFill>
            <a:srgbClr val="22222C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4572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Rotação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4956048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ser usado em /api/auth/refresh, o token é revogado e um novo é emitido. Assim, um refresh token capturado não continua valendo depois do uso legítimo — e a verificação automatizada confere exatamente isso: usar o mesmo token duas vezes devolve 401.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negócio, não CRUD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recusa é tão importante quanto o que ele aceita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2996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222C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29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450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única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8346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perfil avalia cada filme uma só vez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92224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02996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222C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2029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450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do plano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8346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limitados pelo maxPerfis da assinatura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792224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02996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222C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20299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450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 do recurso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8346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dono acessa perfil, lista e histórico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3632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15137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222C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" y="415137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572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 em uso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9560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se exclui categoria que classifica filmes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913632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4296" y="415137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222C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54296" y="415137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654296" y="4572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por agregação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54296" y="49560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calculada por query, nunca em coluna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9872" y="3913632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415137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22222C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30768" y="415137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430768" y="4572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aos 90%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430768" y="49560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 vira "assistido" ao atingir 90% da duração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sabemos que funciona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que rodam sem infraestrutura, e verificação contra a API no 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743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automatizados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145536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Mockito e @WebMvcTest. Sem banco, sem Docker: rodam em qualquer máquina com ./mvnw test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92224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4296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743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verificações de integração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145536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que exercita a API rodando, incluindo todos os casos de erro das regras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792224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743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requisições no Postman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3145536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Coleção pronta para a demonstração, com os tokens guardados automaticamente entre as chamadas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00016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22222C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48828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bug real que a verificação pegou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523036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de plano falhava com 409. Como o id é IDENTITY, o Hibernate executava o INSERT da nova assinatura antes de descarregar o UPDATE que cancelava a anterior — e o índice único parcial barrava as duas ATIVA. Resolvido com saveAndFlush.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ao vivo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do que vamos mostrar agora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47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 papéis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1579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como USER e como ADMIN: o menu muda conforme o papel.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86207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761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 filtros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0723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título, categoria e ano, com nota média agregada.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56616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77647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675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na prática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9867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um filme e tentar de novo: 409 explicando o motivo.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48056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69087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4590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Posse do recurso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49011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de ADMIN lendo o perfil do assinante: 403.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39496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60527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504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58155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Percorrer a documentação e autenticar pela própria interface.</a:t>
            </a:r>
            <a:endParaRPr lang="en-US" sz="1200" dirty="0"/>
          </a:p>
        </p:txBody>
      </p:sp>
      <p:pic>
        <p:nvPicPr>
          <p:cNvPr id="29" name="Image 0" descr="C:\Users\KauamPeregrina\OneDrive - transperegrina.com.br\Documentos\UnescFlix\docs\03-prototipo\04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83080"/>
            <a:ext cx="3383280" cy="2112264"/>
          </a:xfrm>
          <a:prstGeom prst="rect">
            <a:avLst/>
          </a:prstGeom>
        </p:spPr>
      </p:pic>
      <p:pic>
        <p:nvPicPr>
          <p:cNvPr id="30" name="Image 1" descr="C:\Users\KauamPeregrina\OneDrive - transperegrina.com.br\Documentos\UnescFlix\docs\03-prototipo\13-admin-fil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059936"/>
            <a:ext cx="3383280" cy="2386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Divisão da equipe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5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integrante dono de ao menos uma entidade principal, com CRUD e lógica de negócio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Kauam Sant’ana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· Plano · Assinatura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61488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e autorização com JWT, Spring Security, tratamento centralizado de exceções e migrations do Flyway.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792224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Estefani Ricardo de Souza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95728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 · Categoria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61488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Catálogo, busca paginada com Specification, relacionamento N:N e agregação da nota média.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151376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Gabrielle Coral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35424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· Item de Lista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01184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Checagem de posse, limite de perfis derivado do plano e a funcionalidade Minha Lista.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39319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151376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Ingridy Morona Rosa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535424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· Histórico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901184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única por perfil, cálculo de progresso e a prateleira Continuar assistindo.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Troia</a:t>
            </a:r>
            <a:pPr indent="0" marL="0">
              <a:buNone/>
            </a:pPr>
            <a:r>
              <a:rPr lang="en-US" sz="5200" b="1" spc="-100" kern="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9572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queremos que fique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3017520"/>
            <a:ext cx="10058400" cy="548640"/>
          </a:xfrm>
          <a:prstGeom prst="roundRect">
            <a:avLst>
              <a:gd name="adj" fmla="val 1666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3090672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3136392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camadas não são decoração: cada uma tem um limite claro do que não faz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3675888"/>
            <a:ext cx="10058400" cy="548640"/>
          </a:xfrm>
          <a:prstGeom prst="roundRect">
            <a:avLst>
              <a:gd name="adj" fmla="val 1666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3749040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79476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em dois níveis — papel define rota, posse define registro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4334256"/>
            <a:ext cx="10058400" cy="548640"/>
          </a:xfrm>
          <a:prstGeom prst="roundRect">
            <a:avLst>
              <a:gd name="adj" fmla="val 1666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4407408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5312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regras de negócio estão no service e no banco, não espalhadas no controller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992624"/>
            <a:ext cx="10058400" cy="548640"/>
          </a:xfrm>
          <a:prstGeom prst="roundRect">
            <a:avLst>
              <a:gd name="adj" fmla="val 16667"/>
            </a:avLst>
          </a:prstGeom>
          <a:solidFill>
            <a:srgbClr val="17171F"/>
          </a:solidFill>
          <a:ln w="12700">
            <a:solidFill>
              <a:srgbClr val="2222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5065776"/>
            <a:ext cx="402336" cy="402336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5065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511149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é reproduzível: um comando sobe o banco, outro sobe a aplicação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8704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 Perguntas?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UNESC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TroiaFilmes - Trabalho 1 de Desenvolvimento Backend com Spring</dc:title>
  <dc:subject>Apresentação do Trabalho 1 - Desenvolvimento Backend com Spring</dc:subject>
  <dc:creator>Equipe TroiaFilmes</dc:creator>
  <cp:lastModifiedBy>Equipe TroiaFilmes</cp:lastModifiedBy>
  <cp:revision>1</cp:revision>
  <dcterms:created xsi:type="dcterms:W3CDTF">2026-10-21T12:23:47Z</dcterms:created>
  <dcterms:modified xsi:type="dcterms:W3CDTF">2026-10-21T12:23:47Z</dcterms:modified>
</cp:coreProperties>
</file>